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81335468f39477d" /><Relationship Type="http://schemas.openxmlformats.org/officeDocument/2006/relationships/extended-properties" Target="/docProps/app.xml" Id="Rc3cc15f879a249ad" /><Relationship Type="http://schemas.openxmlformats.org/officeDocument/2006/relationships/officeDocument" Target="/ppt/presentation.xml" Id="R3a7860a93cff4e5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8328f9aa67496d"/>
  </p:sldMasterIdLst>
  <p:notesMasterIdLst>
    <p:notesMasterId xmlns:r="http://schemas.openxmlformats.org/officeDocument/2006/relationships" r:id="Rf6ed386ceb404a7e"/>
  </p:notesMasterIdLst>
  <p:sldIdLst>
    <p:sldId xmlns:r="http://schemas.openxmlformats.org/officeDocument/2006/relationships" id="256" r:id="R781a91a1979c47f3"/>
    <p:sldId xmlns:r="http://schemas.openxmlformats.org/officeDocument/2006/relationships" id="257" r:id="R429c431130cc4ed6"/>
    <p:sldId xmlns:r="http://schemas.openxmlformats.org/officeDocument/2006/relationships" id="258" r:id="Ref41ac96358d4679"/>
    <p:sldId xmlns:r="http://schemas.openxmlformats.org/officeDocument/2006/relationships" id="259" r:id="R9b6bbd15cb1b437f"/>
    <p:sldId xmlns:r="http://schemas.openxmlformats.org/officeDocument/2006/relationships" id="260" r:id="R041784406c0b452c"/>
    <p:sldId xmlns:r="http://schemas.openxmlformats.org/officeDocument/2006/relationships" id="261" r:id="Rf8e34608a0984429"/>
    <p:sldId xmlns:r="http://schemas.openxmlformats.org/officeDocument/2006/relationships" id="262" r:id="Rf379f3e2a5e446cc"/>
    <p:sldId xmlns:r="http://schemas.openxmlformats.org/officeDocument/2006/relationships" id="263" r:id="Rd1fd66852ce44ebc"/>
    <p:sldId xmlns:r="http://schemas.openxmlformats.org/officeDocument/2006/relationships" id="264" r:id="R0c037a7e7a7d49af"/>
    <p:sldId xmlns:r="http://schemas.openxmlformats.org/officeDocument/2006/relationships" id="265" r:id="Ra27079935ff340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8328f9aa67496d" /><Relationship Type="http://schemas.openxmlformats.org/officeDocument/2006/relationships/theme" Target="/ppt/theme/theme1.xml" Id="Red22e9a975ba44fe" /><Relationship Type="http://schemas.openxmlformats.org/officeDocument/2006/relationships/notesMaster" Target="/ppt/notesMasters/notesMaster1.xml" Id="Rf6ed386ceb404a7e" /><Relationship Type="http://schemas.openxmlformats.org/officeDocument/2006/relationships/presProps" Target="/ppt/presProps.xml" Id="R4c58273a668c4af7" /><Relationship Type="http://schemas.openxmlformats.org/officeDocument/2006/relationships/viewProps" Target="/ppt/viewProps.xml" Id="R5f9cfea96d224b6b" /><Relationship Type="http://schemas.openxmlformats.org/officeDocument/2006/relationships/tableStyles" Target="/ppt/tableStyles.xml" Id="R3c21301015f64020" /><Relationship Type="http://schemas.openxmlformats.org/officeDocument/2006/relationships/slide" Target="/ppt/slides/slide1.xml" Id="R781a91a1979c47f3" /><Relationship Type="http://schemas.openxmlformats.org/officeDocument/2006/relationships/slide" Target="/ppt/slides/slide2.xml" Id="R429c431130cc4ed6" /><Relationship Type="http://schemas.openxmlformats.org/officeDocument/2006/relationships/slide" Target="/ppt/slides/slide3.xml" Id="Ref41ac96358d4679" /><Relationship Type="http://schemas.openxmlformats.org/officeDocument/2006/relationships/slide" Target="/ppt/slides/slide4.xml" Id="R9b6bbd15cb1b437f" /><Relationship Type="http://schemas.openxmlformats.org/officeDocument/2006/relationships/slide" Target="/ppt/slides/slide5.xml" Id="R041784406c0b452c" /><Relationship Type="http://schemas.openxmlformats.org/officeDocument/2006/relationships/slide" Target="/ppt/slides/slide6.xml" Id="Rf8e34608a0984429" /><Relationship Type="http://schemas.openxmlformats.org/officeDocument/2006/relationships/slide" Target="/ppt/slides/slide7.xml" Id="Rf379f3e2a5e446cc" /><Relationship Type="http://schemas.openxmlformats.org/officeDocument/2006/relationships/slide" Target="/ppt/slides/slide8.xml" Id="Rd1fd66852ce44ebc" /><Relationship Type="http://schemas.openxmlformats.org/officeDocument/2006/relationships/slide" Target="/ppt/slides/slide9.xml" Id="R0c037a7e7a7d49af" /><Relationship Type="http://schemas.openxmlformats.org/officeDocument/2006/relationships/slide" Target="/ppt/slides/slide10.xml" Id="Ra27079935ff340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9fdfb9025d9446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062c3e9aa5445a" /><Relationship Type="http://schemas.openxmlformats.org/officeDocument/2006/relationships/notesMaster" Target="/ppt/notesMasters/notesMaster1.xml" Id="R0a9379d0bdc4445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171085fea84f3f" /><Relationship Type="http://schemas.openxmlformats.org/officeDocument/2006/relationships/notesMaster" Target="/ppt/notesMasters/notesMaster1.xml" Id="Rb2d9c2c745cc4c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4408568f8bd4b83" /><Relationship Type="http://schemas.openxmlformats.org/officeDocument/2006/relationships/notesMaster" Target="/ppt/notesMasters/notesMaster1.xml" Id="R0fe8e7047ee94f8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20785609414842" /><Relationship Type="http://schemas.openxmlformats.org/officeDocument/2006/relationships/notesMaster" Target="/ppt/notesMasters/notesMaster1.xml" Id="Ra1d15384bbe747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6c21be34e54923" /><Relationship Type="http://schemas.openxmlformats.org/officeDocument/2006/relationships/notesMaster" Target="/ppt/notesMasters/notesMaster1.xml" Id="R98fcda04b1414c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863043bc3647ee" /><Relationship Type="http://schemas.openxmlformats.org/officeDocument/2006/relationships/notesMaster" Target="/ppt/notesMasters/notesMaster1.xml" Id="R035ec0f709a2440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748519062084f3b" /><Relationship Type="http://schemas.openxmlformats.org/officeDocument/2006/relationships/notesMaster" Target="/ppt/notesMasters/notesMaster1.xml" Id="Rd3e7f11f78634e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0eeb4445c1a4826" /><Relationship Type="http://schemas.openxmlformats.org/officeDocument/2006/relationships/notesMaster" Target="/ppt/notesMasters/notesMaster1.xml" Id="R20e9817676b24f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1265bb75d349e3" /><Relationship Type="http://schemas.openxmlformats.org/officeDocument/2006/relationships/notesMaster" Target="/ppt/notesMasters/notesMaster1.xml" Id="Rdaac0b7016f3449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86599f85594406f" /><Relationship Type="http://schemas.openxmlformats.org/officeDocument/2006/relationships/notesMaster" Target="/ppt/notesMasters/notesMaster1.xml" Id="Rd1376024ab6a4d6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开场说明课题方向，强调今天主要汇报当前已经完成的阶段成果和真实联调结果。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项目代码与当前可运行原型（2026-04-22）</a:t>
            </a:r>
          </a:p>
          <a:p xmlns:a="http://schemas.openxmlformats.org/drawingml/2006/main">
            <a:r>
              <a:t>- README.md、优化计划.txt、联调执行记录-2026-04-22.md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这一页不要讲太细，重点回答课题意义：为什么不是单独跑工具，而是做平台。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项目代码与当前可运行原型（2026-04-22）</a:t>
            </a:r>
          </a:p>
          <a:p xmlns:a="http://schemas.openxmlformats.org/drawingml/2006/main">
            <a:r>
              <a:t>- README.md、优化计划.txt、联调执行记录-2026-04-22.md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告诉老师你不是只做前端页面，而是围绕任务平台、扫描器接入和可视化结果三个目标设计。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项目代码与当前可运行原型（2026-04-22）</a:t>
            </a:r>
          </a:p>
          <a:p xmlns:a="http://schemas.openxmlformats.org/drawingml/2006/main">
            <a:r>
              <a:t>- README.md、优化计划.txt、联调执行记录-2026-04-22.md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这一页结合架构图讲层次关系：前端发起，后端编排，Worker 执行，数据库落库。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项目代码与当前可运行原型（2026-04-22）</a:t>
            </a:r>
          </a:p>
          <a:p xmlns:a="http://schemas.openxmlformats.org/drawingml/2006/main">
            <a:r>
              <a:t>- README.md、优化计划.txt、联调执行记录-2026-04-22.md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把流程图讲成闭环：发起、调度、执行、落库、展示、导出、留痕。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项目代码与当前可运行原型（2026-04-22）</a:t>
            </a:r>
          </a:p>
          <a:p xmlns:a="http://schemas.openxmlformats.org/drawingml/2006/main">
            <a:r>
              <a:t>- README.md、优化计划.txt、联调执行记录-2026-04-22.md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这一页强调‘已经做到什么’。把系统说成可运行原型，而不是 still in design。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项目代码与当前可运行原型（2026-04-22）</a:t>
            </a:r>
          </a:p>
          <a:p xmlns:a="http://schemas.openxmlformats.org/drawingml/2006/main">
            <a:r>
              <a:t>- backend/tests 共 37 项测试通过，且已完成真实联调验证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答辩时可结合系统截图补充说明：SAST 详情页不只是原始报告，而是经过结构化展示。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项目代码与当前可运行原型（2026-04-22）</a:t>
            </a:r>
          </a:p>
          <a:p xmlns:a="http://schemas.openxmlformats.org/drawingml/2006/main">
            <a:r>
              <a:t>- backend/tests 共 37 项测试通过，且已完成真实联调验证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这一页要主动说明：当前 DAST 主要面向本地测试靶场或授权目标，强调合规边界。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项目代码与当前可运行原型（2026-04-22）</a:t>
            </a:r>
          </a:p>
          <a:p xmlns:a="http://schemas.openxmlformats.org/drawingml/2006/main">
            <a:r>
              <a:t>- backend/tests 共 37 项测试通过，且已完成真实联调验证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这是本次中期汇报最有说服力的一页，重点说明系统不是空壳，已经完成真实联调。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backend/tests 共 37 项测试通过，且已完成真实联调验证</a:t>
            </a:r>
          </a:p>
          <a:p xmlns:a="http://schemas.openxmlformats.org/drawingml/2006/main">
            <a:r>
              <a:t>- README.md、优化计划.txt、联调执行记录-2026-04-22.md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结束时强调：现在已经从‘做功能’进入‘稳定系统和沉淀材料’阶段。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README.md、优化计划.txt、联调执行记录-2026-04-22.md</a:t>
            </a:r>
          </a:p>
          <a:p xmlns:a="http://schemas.openxmlformats.org/drawingml/2006/main">
            <a:r>
              <a:t>- backend/tests 共 37 项测试通过，且已完成真实联调验证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aec8cd524e4d1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 1">
            <a:extLst xmlns:a="http://schemas.openxmlformats.org/drawingml/2006/main">
              <a:ext uri="{FF2B5EF4-FFF2-40B4-BE49-F238E27FC236}">
                <a16:creationId xmlns:a16="http://schemas.microsoft.com/office/drawing/2014/main" id="{EB4DDFB6-756F-408C-839E-C8A33000ADF1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2" name="Subtitle 2">
            <a:extLst xmlns:a="http://schemas.openxmlformats.org/drawingml/2006/main">
              <a:ext uri="{FF2B5EF4-FFF2-40B4-BE49-F238E27FC236}">
                <a16:creationId xmlns:a16="http://schemas.microsoft.com/office/drawing/2014/main" id="{A3CEB888-51C5-49B6-8516-C3F5DEA7394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4A5B21A-DB6F-4EC4-ACBA-31769678CB4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91C6EB1-1247-41C3-9B44-99F0FC35EB7E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AED828-B1D5-417B-8C5E-71004D1364CD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ac3c59a28b9c4035" /><Relationship Type="http://schemas.openxmlformats.org/officeDocument/2006/relationships/slideLayout" Target="/ppt/slideLayouts/slideLayout2.xml" Id="Re9e1166a3a5b40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C5C2FC3-32D7-489A-A556-CA2C8DED9187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e1166a3a5b40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15327a883434270" /><Relationship Type="http://schemas.openxmlformats.org/officeDocument/2006/relationships/image" Target="/ppt/media/image.png" Id="R35fe7a79dc1d4373" /><Relationship Type="http://schemas.openxmlformats.org/officeDocument/2006/relationships/notesSlide" Target="/ppt/notesSlides/notesSlide1.xml" Id="Ra0b63527d09d49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85ac6da90c4ce8" /><Relationship Type="http://schemas.openxmlformats.org/officeDocument/2006/relationships/image" Target="/ppt/media/image2.png" Id="R4728ea8581354a49" /><Relationship Type="http://schemas.openxmlformats.org/officeDocument/2006/relationships/notesSlide" Target="/ppt/notesSlides/notesSlide2.xml" Id="R57ac2530378349e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56975abca74417" /><Relationship Type="http://schemas.openxmlformats.org/officeDocument/2006/relationships/image" Target="/ppt/media/image3.png" Id="R9a46b0be5df64351" /><Relationship Type="http://schemas.openxmlformats.org/officeDocument/2006/relationships/notesSlide" Target="/ppt/notesSlides/notesSlide3.xml" Id="R9c983a0924434f7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cc67ed32924b41" /><Relationship Type="http://schemas.openxmlformats.org/officeDocument/2006/relationships/image" Target="/ppt/media/image4.png" Id="Rf52bdd4ce5f04053" /><Relationship Type="http://schemas.openxmlformats.org/officeDocument/2006/relationships/notesSlide" Target="/ppt/notesSlides/notesSlide4.xml" Id="Rf1cc0590eb5f4d4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ac6c876728478d" /><Relationship Type="http://schemas.openxmlformats.org/officeDocument/2006/relationships/image" Target="/ppt/media/image5.png" Id="Raa73d98a6c15476b" /><Relationship Type="http://schemas.openxmlformats.org/officeDocument/2006/relationships/notesSlide" Target="/ppt/notesSlides/notesSlide5.xml" Id="R79d5eecf9cf640a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428c3827034703" /><Relationship Type="http://schemas.openxmlformats.org/officeDocument/2006/relationships/image" Target="/ppt/media/image6.png" Id="Ra260f9a183424e39" /><Relationship Type="http://schemas.openxmlformats.org/officeDocument/2006/relationships/notesSlide" Target="/ppt/notesSlides/notesSlide6.xml" Id="Rd6ff6ce0378f44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86f15e798d844a3" /><Relationship Type="http://schemas.openxmlformats.org/officeDocument/2006/relationships/image" Target="/ppt/media/image7.png" Id="R78907c2f5ee343ee" /><Relationship Type="http://schemas.openxmlformats.org/officeDocument/2006/relationships/notesSlide" Target="/ppt/notesSlides/notesSlide7.xml" Id="R2d1ac3d770ad43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1379c14115945f3" /><Relationship Type="http://schemas.openxmlformats.org/officeDocument/2006/relationships/image" Target="/ppt/media/image8.png" Id="R846e9bd454564089" /><Relationship Type="http://schemas.openxmlformats.org/officeDocument/2006/relationships/notesSlide" Target="/ppt/notesSlides/notesSlide8.xml" Id="Rf50b928a550144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745576274242a7" /><Relationship Type="http://schemas.openxmlformats.org/officeDocument/2006/relationships/image" Target="/ppt/media/image9.png" Id="Rc1166f8b6cb943b7" /><Relationship Type="http://schemas.openxmlformats.org/officeDocument/2006/relationships/notesSlide" Target="/ppt/notesSlides/notesSlide9.xml" Id="R7a905d5394fd4e6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fbf4e2b57f84673" /><Relationship Type="http://schemas.openxmlformats.org/officeDocument/2006/relationships/image" Target="/ppt/media/image10.png" Id="Ra367cb5089a747e5" /><Relationship Type="http://schemas.openxmlformats.org/officeDocument/2006/relationships/notesSlide" Target="/ppt/notesSlides/notesSlide10.xml" Id="R68bc1df672294c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AED828-B1D5-417B-8C5E-71004D1364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fe7a79dc1d4373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35C7D-E277-466F-8B04-AA197531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8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E3054F-815F-46AB-B54D-244B84AC8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21ADCC-F1BC-46FE-8C4B-3457C3F2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3820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中期答辩汇报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8B65D-9D2B-45C8-9B21-F3D5CABB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38250"/>
            <a:ext cx="7477125" cy="1752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214"/>
                </a:solidFill>
              </a:defRPr>
            </a:pPr>
            <a:r>
              <a:rPr sz="3600" b="1">
                <a:solidFill>
                  <a:srgbClr val="101214"/>
                </a:solidFill>
              </a:rPr>
              <a:t>基于 DevSecOps 的自动化代码审计与漏洞扫描平台设计与实现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8C9F3C-452B-434C-B0CB-F9911914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05150"/>
            <a:ext cx="5810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30363A"/>
                </a:solidFill>
              </a:defRPr>
            </a:pPr>
            <a:r>
              <a:rPr sz="1500" b="0">
                <a:solidFill>
                  <a:srgbClr val="30363A"/>
                </a:solidFill>
              </a:rPr>
              <a:t>当前已完成可运行原型，主链路覆盖用户登录、任务创建、异步扫描、结果展示与报告导出。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B5111-6D85-48DE-B8C8-7DAFB1468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4340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916900-D514-4D23-B07C-920CEFD9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52950"/>
            <a:ext cx="32004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214"/>
                </a:solidFill>
              </a:defRPr>
            </a:pPr>
            <a:r>
              <a:rPr sz="1725" b="1">
                <a:solidFill>
                  <a:srgbClr val="101214"/>
                </a:solidFill>
              </a:rPr>
              <a:t>已形成可运行的阶段性原型</a:t>
            </a:r>
          </a:p>
        </p:txBody>
      </p:sp>
    </p:spTree>
    <p:extLst>
      <p:ext uri="{BB962C8B-B14F-4D97-AF65-F5344CB8AC3E}">
        <p14:creationId xmlns:p14="http://schemas.microsoft.com/office/powerpoint/2010/main" val="98045219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AED828-B1D5-417B-8C5E-71004D1364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28ea8581354a4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250417-7A84-4D31-B0AE-0E3DA8C0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00EC78-03B2-4959-8AA8-6DFDE1B88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研究背景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676796-7164-47E5-AC00-4D419CB1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02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DECD2-5A22-4A89-9E42-8BE5F85C5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6BC88E-B4E6-4079-A9C7-A461AAC5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D3D0C-CF90-42A9-85AB-197AF793E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为什么要做 DevSecOps 审计平台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25E996-6A9F-46F9-88E5-6672872B5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从安全前移、自动化检测和统一管理三个角度说明课题价值。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0A72C1-7590-497C-93DB-350D29C5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8263DC-0FC9-4739-A62D-48D38D96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4F633-4C46-4EBA-B08B-358A60FC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E1FC11-F364-4B18-976D-153C76B7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D3F3F7-6119-4E8D-B732-893320E89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49CE36-A499-4ABB-9659-409A8D376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F57857-2A92-4E93-8235-2D9BF65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安全前移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08D94D-5F50-4F4C-8FF9-BA5193CF3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传统安全测试往往发生在开发后期，问题发现滞后，修复成本高。DevSecOps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强调把安全能力前移到开发与交付流程中。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1F5D12-E51E-4205-BD2C-AD0B9C7F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423721-7657-4586-811F-B015C22F6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3BF816-ECFA-439B-9FD4-1E185D7D6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90CE90-38FB-44A9-94C2-6F2CBE8BD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65FF7D-8363-48FB-A4C3-DCAC3AD06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8A70FB-73C4-4854-8D5F-853201A6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88EFC7-69E5-4CCF-BA75-A72CB527D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自动化检测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F50FF3-60B1-400F-9CF0-B96E2AD1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静态审计和动态扫描都适合平台化调度执行，用统一任务中心替代手工分散运行工具。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A2CF1D-FB39-442D-8AC2-03A462C2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02190EA-BF38-400D-BE51-C38317E5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E84CB20-3F0B-4E3D-B9CE-D77409713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682E78-3967-47D7-9004-F7E294E07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7E41D61-B87E-4539-9036-BB52B15F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011140-01D5-4597-AEE7-64B5CC10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9F7F63-FB16-422A-B62C-E42446529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统一管理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F727D81-511A-40CC-9246-556BAB5D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平台化后可以实现任务历史、状态追踪、报告导出和审计日志留痕，更接近真实工程场景。</a:t>
            </a:r>
          </a:p>
        </p:txBody>
      </p:sp>
    </p:spTree>
    <p:extLst>
      <p:ext uri="{BB962C8B-B14F-4D97-AF65-F5344CB8AC3E}">
        <p14:creationId xmlns:p14="http://schemas.microsoft.com/office/powerpoint/2010/main" val="17175070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AED828-B1D5-417B-8C5E-71004D1364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46b0be5df64351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960C6E-CFE6-455F-A7D3-2903C205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61B69D-0839-4D85-B71F-8EA808E0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研究目标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547ADB-8025-4002-A32F-DAFAEE51C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03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639F18-7233-4D1D-911A-F5BD95B3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75596-82F0-4376-90A7-01C2AA206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9CED1-B79A-46E8-8B6F-3D80F0D0E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本课题的设计目标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A20B69-D19F-42B2-B81F-E03F83499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围绕平台化管理、真实扫描接入和结果分析展示构建系统。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E095B3-D908-40FF-AEA2-1E11304A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20DAA-5C5C-4631-B2E1-15C9037B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2A6BF7-8690-4A87-9D69-B9FB03594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 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13F67-3CF3-4A5F-BB0E-C28A10E4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统一接入 SAST 与 DAST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5E5122-C033-4CB5-AAD6-3E889EB5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Bandit + Wapiti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231CF-C452-4E03-BB5D-5A10034B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DEECF7-72F5-42A9-B0CE-D99A5ACA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931E9B-B435-430E-A673-8D02D6BA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异步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A8638B-A328-4E5C-A284-6D840458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采用 Celery + Redis 执行扫描任务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CB574-2CC2-4F92-84A9-02BE866C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支持状态流转与重跑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9516DE-6F74-479E-9958-42B2256A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798BEC-8D61-4A26-AEF9-9EEBDE58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37BE30-BAAA-455F-B532-94A5AC081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平台化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316C9F-A68B-4BF6-B635-4513E7CE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形成任务、结果、导出、日志统一闭环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E80E53-9F7E-4D5A-B5BB-7B1F5F9E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面向答辩与论文展示</a:t>
            </a:r>
          </a:p>
        </p:txBody>
      </p:sp>
    </p:spTree>
    <p:extLst>
      <p:ext uri="{BB962C8B-B14F-4D97-AF65-F5344CB8AC3E}">
        <p14:creationId xmlns:p14="http://schemas.microsoft.com/office/powerpoint/2010/main" val="4209043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AED828-B1D5-417B-8C5E-71004D1364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bdd4ce5f0405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286CED-C7FB-4661-A746-49A5002DE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369921-2CA6-4978-9F12-AF348F29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系统架构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D7598E-949F-4055-BFAB-F8493F1F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04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36F50F-2309-4F02-B98B-C468BB26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24599D-FBD8-4B58-9F6A-6EA212423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41E86-5508-4128-BBDA-94C32E1C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系统总体架构设计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0ADDC2-391D-4F35-B6B7-BF9BAF1B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采用前后端分离架构，由 Flask 提供业务接口，Celery + Redis 负责异步调度，Bandit 与 Wapiti 提供真实扫描能力。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817A63-29F2-4612-A532-DAB57B61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785D04-49E1-4F13-BB5C-EA9FC0414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318668-55B4-4039-9388-5F97CFA8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A676AD-9574-475F-B641-E67BBBF7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E7FDC7-FF18-4831-9566-8AF76CCA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F67BF5-BA4B-41DB-BA05-1C8748A3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CAC00B-5859-4F4F-A001-81D23CDD4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前端展示层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2FD8F2-D687-4844-9AEA-F356731E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Vue3 + TypeScript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负责登录、任务创建、任务列表、任务详情和审计日志等页面交互。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47161-2EA5-4BD3-939B-E18DA09D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CE1FD8-EF02-4CD6-B4C3-F52C053F8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FE0FB-B3C2-434E-A199-AD1F3F4D7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A1A83F-4885-4835-B267-2F6B2D46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56D873-2E7C-4C9D-9CA9-BD927959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182651-4E6E-47C5-9775-E5EA695C9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EFE06D-BDB3-4DC6-A34D-F5BA16E4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后端服务层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D5890E-C1D9-4EF4-ABB0-670FD68F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Flask 统一处理认证鉴权、任务状态机、结果解析、AI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解读和报告导出等业务逻辑。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F135E1-D6A8-41E4-B095-780BBEB33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5559F2A-ED7E-44C7-BB41-C52828B0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1581F3-82DA-49A4-9B4A-499D0D77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32710F-5741-4CD8-95F4-D363F4E3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1B6AE85-C513-4A3C-B40D-B1A5BB5F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0636E9C-4A36-4BF2-B385-807652632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17CEE9A-0D44-4016-9725-C3234C12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异步与数据层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249CA9-98FD-401A-B0DE-9949B463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Celery + Redis 调度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Bandit/Wapiti 执行扫描，结果统一写入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MySQL 并回流到平台展示。</a:t>
            </a:r>
          </a:p>
        </p:txBody>
      </p:sp>
    </p:spTree>
    <p:extLst>
      <p:ext uri="{BB962C8B-B14F-4D97-AF65-F5344CB8AC3E}">
        <p14:creationId xmlns:p14="http://schemas.microsoft.com/office/powerpoint/2010/main" val="10839320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AED828-B1D5-417B-8C5E-71004D1364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3d98a6c15476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3D59C-B9A6-4FE2-BD54-91CFA9A8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C67523-6A3D-495F-AEF0-08B1F70C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业务流程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95C629-B5B3-45E5-8F74-FC10E361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05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4AF4C0-AB29-4211-9847-00105348D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647CE9-1F33-4DEE-B88C-2ABA8DB84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B1D5C-1AFD-4A7B-97A6-B3AFE4306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平台核心业务流程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1F96FA-93FB-4C22-9EBC-010A90D1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从用户登录到任务创建、异步执行、结果展示、报告导出和审计留痕形成完整闭环。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C14921-B8F4-4A43-9D45-5F18AB4F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43F969-23F1-43EC-AAF1-4660232F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674706-5027-40D8-85BF-0D7928C7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7439A5-D3E5-4624-9300-916C2E70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CEBF5B-C65B-404C-BBF4-4475AE5B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E14C3-1E71-4D7B-897F-283FCAB3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F7EF95-C767-471A-BF15-B79CF50D0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任务发起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5873D6-BCF6-4587-8827-2B3D7AA03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用户登录后创建 SAST 或 DAST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任务，平台先做参数和权限校验，再生成任务记录。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E00744-A363-4510-A0D5-0A387C169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B6C1F1-6CE7-4DF0-8DFB-CA62B52DF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FC19B-2117-4C8E-9A06-C257AA7B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A34551-46F9-47B0-932C-269073D4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EF3472-6382-4B3E-9B58-E8DECB67E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6FE69C-4240-4ACA-A783-54B912E23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528B75-87DA-4EA8-B50B-1419EC01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异步执行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4F19A7-7146-4C7C-8DAD-757D86AB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任务进入 Celery 队列，由 Worker 调用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Bandit 或 Wapiti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执行真实扫描，并更新任务状态。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6841F4-9696-4562-9066-C562696C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29FDEB-1078-43B7-8020-DD81142E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F4D96D-3EB6-4DF4-BCC2-DE386F14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8C67447-E64F-4E65-BE76-B05AF109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5C921A-EC47-49CA-853C-B41602572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7BB60B6-58D7-429D-9EB8-A1E8D9EF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3C14E3-EDB9-4212-9C40-F8ACDF6B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结果回流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3E2BEE-F3B1-438D-A3A2-A7B3452B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扫描结果入库后，在任务详情页中以图表、问题卡片和导出报告形式统一展示，并写入审计日志。</a:t>
            </a:r>
          </a:p>
        </p:txBody>
      </p:sp>
    </p:spTree>
    <p:extLst>
      <p:ext uri="{BB962C8B-B14F-4D97-AF65-F5344CB8AC3E}">
        <p14:creationId xmlns:p14="http://schemas.microsoft.com/office/powerpoint/2010/main" val="67863472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AED828-B1D5-417B-8C5E-71004D1364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60f9a183424e3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797F18-D76B-4BB5-9CD8-8EAB288C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1EE977-C0B5-4207-8C17-A9E7CFE16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阶段成果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ED106-B342-45EA-9389-B752BE24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06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C628D-F481-462D-BC2B-A67289C5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A8688A-C461-4BFE-B8BA-2B2872B3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8E6C8-6081-4708-9BCD-322CB39B3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当前已完成的核心成果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2DF13-F05F-47F1-8047-B0839EDC9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系统已不是概念验证，而是具备完整主链路的可运行原型。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C9182-E1C2-443A-96BB-8FD55A64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D69C63-B3F5-4FC9-AD01-EE03E6DF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53FF44-DAD5-4B1B-A42B-C583F6478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7 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78F35-941D-4152-9AB8-9245F3E1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已注册 API 模块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B8CF73-DBE8-4DD2-9A6D-CC2278D99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auth / health / sast / dast / tasks / audit /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15C2AA-FA70-4900-A810-F1AA4BF6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46538-18A2-4386-8934-635426A82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CDD7C8E-E653-4DEC-87E5-5209EA6A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37 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286373-9A9B-46F3-B149-9C4A5A4E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后端自动化测试已通过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8F9370-86FA-4D5C-8785-4F2E56C27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覆盖认证、任务、审计等核心接口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F885DE-C682-4D80-8CFF-8CFE6EF90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C6C129-B046-48EB-AABE-7823E5B91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E812F-52CE-4B66-83CE-20ECFD12E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 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B805B0-1468-4E39-856C-887E41EE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真实扫描器已接入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AE9203-DAC8-41EC-BC34-A88A22058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Bandit 与 Wapiti</a:t>
            </a:r>
          </a:p>
        </p:txBody>
      </p:sp>
    </p:spTree>
    <p:extLst>
      <p:ext uri="{BB962C8B-B14F-4D97-AF65-F5344CB8AC3E}">
        <p14:creationId xmlns:p14="http://schemas.microsoft.com/office/powerpoint/2010/main" val="2639436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AED828-B1D5-417B-8C5E-71004D1364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07c2f5ee343ee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9D7A99-7BA1-4C4F-B25A-5E41C260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F42ED-E57A-4D24-9E3B-C1DB52F9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SAST 功能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B1C6D-6D22-4F11-AEE7-64A92EC38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07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AA559-A884-40EA-A804-FD3A5DC86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C326A-D17C-46F2-9D9A-A493A91DC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8D1C5E-31E3-4CE0-8FDD-F0E9ABAB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静态审计能力已完成真实接入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51F48-7775-4184-96A1-47869C8F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支持上传 Python 文件或压缩包，异步调用 Bandit 执行扫描，并将结果结构化入库展示。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8CEF0D-0D07-4198-9AA2-AA24B2200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CE2401-0AC5-48AB-93C5-409D4BB3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79870-FA2B-4065-99DA-B202CC646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DB20D9-4836-4E6A-80A3-55399E2DF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132355-7BE8-4FF8-9E43-31A53723E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1EB365-039D-48C8-A7AF-A0B3FA11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31BA27-8D63-46A1-8633-404B2C00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B87664F-E958-4E21-A9F5-C56B69E8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支持 .py、.zip、.tar.gz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上传，并对文件大小、后缀和压缩包安全性进行校验。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566DAF-E5E1-4288-B922-369923EE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254EF-E27B-46D1-8DA8-C447E15DA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BB3753-7C90-4C36-A1C8-2904F7F2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880B59-1CC7-4867-B2C5-52B8D4A7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28F021-C0BD-46FF-B92C-1F371C2FD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8EB33E-84E3-4F0B-B797-1EC02DDF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B255A3-73AD-4AA1-B610-A28DCC65E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D2F7A9D-2DDB-405F-9649-DB846EECA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任务创建后进入异步队列，由 Worker 调用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Bandit 完成真实静态审计。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9A9837-527E-412E-A876-DBC75984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CBB5489-79BF-4882-B78A-77AC48902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97E95AD-9F62-4EAD-8686-12A9B964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7EC8E3-341F-42B8-A8C9-C1108ED1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7A250E-D0C1-44EB-8A2F-E65F0738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C4DCCCE-8044-477C-ACCA-D62B3A89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D7EE9CD-6580-4135-A025-766A863D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输出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8D3AA9-C9E3-4B6E-A68A-D05C7E87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平台展示问题总数、严重度、置信度、规则分布、文件分布，并支持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JSON/HTML/PDF 导出。</a:t>
            </a:r>
          </a:p>
        </p:txBody>
      </p:sp>
    </p:spTree>
    <p:extLst>
      <p:ext uri="{BB962C8B-B14F-4D97-AF65-F5344CB8AC3E}">
        <p14:creationId xmlns:p14="http://schemas.microsoft.com/office/powerpoint/2010/main" val="98962181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AED828-B1D5-417B-8C5E-71004D1364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6e9bd454564089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CB1CA7-84AE-468E-B26A-362AD7DE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1448B5-6164-4EB1-9594-6688FE05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DAST 功能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72845-4223-4CB7-923C-19A36858B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08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7FED5C-E6C8-4747-9F2E-97DF8D754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545900-AE1B-4974-AE34-F6A12615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6AA154-E996-437B-8C7D-E713267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动态扫描能力已完成真实接入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968E8C-C3F3-4304-810D-AF3F81548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支持对白名单本地目标执行 Wapiti 扫描，展示漏洞摘要、类型分布和 OWASP Top 10 映射。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871533-69AA-498C-8BAA-8400238E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EA8D97-9913-49D4-B355-0137643A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2CC8F1-2B66-43DF-937E-49B9CE3F1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D1EF6-EE1F-41AC-823A-DB4A4D1E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C282F3-5A0D-40E9-8580-7A2104E53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FD34F-4C2B-471F-B611-6BA488E0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79184F-E301-45C6-8A8D-EB9546346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输入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DAF29E-CC80-4B9D-8017-BF01E529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用户提交 URL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时，平台会做协议、主机和白名单校验，避免任意公网扫描。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90E712-0374-4DFF-AAAF-2A401836A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FC3E91-DDB5-4910-A20B-C64EF6F2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2BF252-16AD-42F8-9327-F3573625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80111A6-57AE-40A9-B26F-B25BF4D8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67FC1D-F3C0-4A1C-A4E9-66397631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4DA7C8-C9B3-4DDC-8B5D-8424F997F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2A8ECE-5918-49D7-9081-21377E37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执行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851B66-3AE1-4E04-942D-6CD41644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DAST 任务通过 Celery 异步执行，Worker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调用 Wapiti 并处理超时与失败场景。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616E3E-6E94-4766-BCBC-F6D986630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28C6425-21D6-4A21-829E-E965A2B2D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91DB99-820C-4D66-BD83-7D41EFF56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57782E-D018-4233-8524-F4E326FB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A05DA6-B59E-4ABC-B473-6A7CFD2D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24C00EE-CD77-41D2-A580-28CBABF1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4C68ED1-8E03-4141-8FA3-8E050067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输出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948AB2D-BD92-4D59-844D-D8DB8E5A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平台展示漏洞数、高风险项、类型分布、OWASP Top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10 映射和重点漏洞卡片，同时支持导出。</a:t>
            </a:r>
          </a:p>
        </p:txBody>
      </p:sp>
    </p:spTree>
    <p:extLst>
      <p:ext uri="{BB962C8B-B14F-4D97-AF65-F5344CB8AC3E}">
        <p14:creationId xmlns:p14="http://schemas.microsoft.com/office/powerpoint/2010/main" val="70821023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AED828-B1D5-417B-8C5E-71004D1364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66f8b6cb943b7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4DC089-798C-47CA-A9FC-59AE26B9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80080-DD69-4C9D-9077-FE9AEDD2E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联调验证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92892E-F5B5-4D56-BDCD-184BA5CB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09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8F423-0812-428D-A993-B64E5590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85962-B417-4352-B2FE-0F52B1B9D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888897-36C4-45BF-9D69-656004EC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66675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真实联调结果证明系统主链路已跑通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4F31F9-1588-472D-BF23-4002D1B79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667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已完成前端、后端、Redis、Celery、Bandit、Wapiti 和 MySQL 的真实联调。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3BD798-4E1D-41C3-87F1-046D98801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2499D1-8B43-4D34-AC3A-C142916C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6033F2-C710-49C8-B199-29A58E0B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SUCCESS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A790FB-6A20-4A36-8CAA-B8404143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SAST 真实联调通过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1A09E-4020-4604-B40E-96D5B0610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任务 39，发现 6 个问题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10A6EA-314B-450E-B20F-0D16333D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BE9402-F2FD-4896-9E21-1F82D8FE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A83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28ED42-29C1-4759-97CF-F31D0A026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SUCCESS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DA270C-55CE-4CA3-A5AE-1694F6977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DAST 真实联调通过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C530EA-CCF5-40FB-A24A-B2EBDDCA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任务 40，发现 2 个问题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458C45-8726-4947-8587-E162C05EC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16573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54BF52-A86C-455A-9529-621418E65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1432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6F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73510A-C0F3-4D17-9760-F3CE4EFD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76700"/>
            <a:ext cx="27241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214"/>
                </a:solidFill>
              </a:defRPr>
            </a:pPr>
            <a:r>
              <a:rPr sz="2550" b="1">
                <a:solidFill>
                  <a:srgbClr val="101214"/>
                </a:solidFill>
              </a:rPr>
              <a:t>20 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A4B100-5DC9-4CB5-A573-541B2CF1F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629150"/>
            <a:ext cx="2686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0363A"/>
                </a:solidFill>
              </a:defRPr>
            </a:pPr>
            <a:r>
              <a:rPr sz="1200" b="0">
                <a:solidFill>
                  <a:srgbClr val="30363A"/>
                </a:solidFill>
              </a:rPr>
              <a:t>管理员审计日志查询成功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9256ED-45D5-4019-891D-4505C2CB8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105400"/>
            <a:ext cx="26860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076"/>
                </a:solidFill>
              </a:defRPr>
            </a:pPr>
            <a:r>
              <a:rPr sz="750" b="0">
                <a:solidFill>
                  <a:srgbClr val="687076"/>
                </a:solidFill>
              </a:rPr>
              <a:t>JSON / HTML 导出已验证</a:t>
            </a:r>
          </a:p>
        </p:txBody>
      </p:sp>
    </p:spTree>
    <p:extLst>
      <p:ext uri="{BB962C8B-B14F-4D97-AF65-F5344CB8AC3E}">
        <p14:creationId xmlns:p14="http://schemas.microsoft.com/office/powerpoint/2010/main" val="183238578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2AED828-B1D5-417B-8C5E-71004D1364C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67cb5089a747e5"/>
          <a:srcRect xmlns:a="http://schemas.openxmlformats.org/drawingml/2006/main" l="0" t="21875" r="0" b="218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074D3F-097C-4851-A500-57384BA3F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157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E5705B-C7CE-459B-A5C3-951DECD1F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后续计划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AB7372-75C4-4E28-8171-BCDD6408B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23850"/>
            <a:ext cx="990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116B49"/>
                </a:solidFill>
              </a:defRPr>
            </a:pPr>
            <a:r>
              <a:rPr sz="975" b="1">
                <a:solidFill>
                  <a:srgbClr val="116B49"/>
                </a:solidFill>
              </a:rPr>
              <a:t>10 /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D5A925-B308-43D0-BA07-BA8BF8547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FB484B-B5FC-4E92-8D09-679837A3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42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19050">
            <a:solidFill>
              <a:srgbClr val="10121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E51367-A74B-4DA1-BF03-84CE6D22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72390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1214"/>
                </a:solidFill>
              </a:defRPr>
            </a:pPr>
            <a:r>
              <a:rPr sz="3000" b="1">
                <a:solidFill>
                  <a:srgbClr val="101214"/>
                </a:solidFill>
              </a:rPr>
              <a:t>当前问题与下一步工作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D54165-46AE-4DAE-B2C3-ED64737B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28850"/>
            <a:ext cx="6858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0363A"/>
                </a:solidFill>
              </a:defRPr>
            </a:pPr>
            <a:r>
              <a:rPr sz="1425" b="0">
                <a:solidFill>
                  <a:srgbClr val="30363A"/>
                </a:solidFill>
              </a:rPr>
              <a:t>主链路已经成立，后续重点转向运行依赖补齐、实验数据沉淀和答辩材料完善。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6D0BA-96B5-41A0-B80D-F5DABE29A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7C567B-2EEE-42DC-AAC0-218CDDF77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879942-C68C-4EBF-B181-8D9C85E6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6D3722-418F-47B3-814B-3662128C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562475"/>
            <a:ext cx="571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19220-3641-49A9-961E-074254B7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4486275"/>
            <a:ext cx="5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C21A3A-82BA-4873-80A3-3E5B3A24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9600"/>
            <a:ext cx="571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E9E7A-F2D8-4A1D-A14E-5C6986050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当前问题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95ADB-F1C7-4C8E-AB42-2E680886A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Windows 环境下 PDF 导出仍依赖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GTK/Pango 原生库，当前 HTML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导出可以作为稳定演示方案。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0BA7D5-FB9D-476B-9020-403583B8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754BA-777B-458A-95FB-47742618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325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AE3A9B-7E1A-46AA-BFAB-937B7197C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280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AC6F8E-C041-4DFA-9CEC-DF36D906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6625" y="4457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4E042E-F29E-489F-BE1E-595F3FC47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8075" y="45434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CCF057-F7A9-4A5C-8D04-E37772C3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2350" y="4524375"/>
            <a:ext cx="1809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185B8E-ADC8-4E83-B4D7-D4805162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145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近期完善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07527B-59A9-4FD3-B703-75D224FC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185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继续补齐 PDF 导出依赖，固定 SAST / DAST</a:t>
            </a:r>
          </a:p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成功案例，整理截图、报告和答辩材料。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CF3ADF-CF11-4DC4-B766-DCE7621C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3384550" cy="16764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A54161-3E71-46BF-9CA4-64EDD515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057650"/>
            <a:ext cx="7620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C47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F7C12B-76F6-4FD6-892C-9A989952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5950" y="42862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F4ED">
              <a:alpha val="96078"/>
            </a:srgbClr>
          </a:solidFill>
          <a:ln xmlns:a="http://schemas.openxmlformats.org/drawingml/2006/main" w="11430">
            <a:solidFill>
              <a:srgbClr val="10121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D4C030B-D136-46B8-A0A7-AA052D84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9775" y="4429125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7C47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A04BE1-2216-42F8-A0C9-DB0BF3C15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7400" y="4514850"/>
            <a:ext cx="2476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A83D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B0224C-46DC-4950-8906-36433875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5025" y="4600575"/>
            <a:ext cx="190500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6F5B"/>
          </a:solidFill>
          <a:ln xmlns:a="http://schemas.openxmlformats.org/drawingml/2006/main" w="9525">
            <a:solidFill>
              <a:srgbClr val="10121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8D0619-CAE4-4D55-AADC-DC684186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4600" y="4267200"/>
            <a:ext cx="235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6B49"/>
                </a:solidFill>
              </a:defRPr>
            </a:pPr>
            <a:r>
              <a:rPr sz="1125" b="1">
                <a:solidFill>
                  <a:srgbClr val="116B49"/>
                </a:solidFill>
              </a:rPr>
              <a:t>后续扩展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654C91-3EF3-4606-B9A0-034583802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876800"/>
            <a:ext cx="29273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214"/>
                </a:solidFill>
              </a:defRPr>
            </a:pPr>
            <a:r>
              <a:rPr sz="1275" b="0">
                <a:solidFill>
                  <a:srgbClr val="101214"/>
                </a:solidFill>
              </a:rPr>
              <a:t>围绕异常场景验证、实验数据统计、前端体验和论文材料继续完善系统。</a:t>
            </a:r>
          </a:p>
        </p:txBody>
      </p:sp>
    </p:spTree>
    <p:extLst>
      <p:ext uri="{BB962C8B-B14F-4D97-AF65-F5344CB8AC3E}">
        <p14:creationId xmlns:p14="http://schemas.microsoft.com/office/powerpoint/2010/main" val="2265668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2026-04-22T15:40:45.6500000Z</dcterms:created>
  <dcterms:modified xsi:type="dcterms:W3CDTF">2026-04-22T15:40:45.6500000Z</dcterms:modified>
</coreProperties>
</file>